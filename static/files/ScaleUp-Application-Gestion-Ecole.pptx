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Modules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1F3A"/>
              </a:solidFill>
              <a:effectLst/>
            </c:spPr>
          </c:dPt>
          <c:dPt>
            <c:idx val="1"/>
            <c:bubble3D val="0"/>
            <c:spPr>
              <a:solidFill>
                <a:srgbClr val="C9A24B"/>
              </a:solidFill>
              <a:effectLst/>
            </c:spPr>
          </c:dPt>
          <c:dPt>
            <c:idx val="2"/>
            <c:bubble3D val="0"/>
            <c:spPr>
              <a:solidFill>
                <a:srgbClr val="0F6B4C"/>
              </a:solidFill>
              <a:effectLst/>
            </c:spPr>
          </c:dPt>
          <c:dPt>
            <c:idx val="3"/>
            <c:bubble3D val="0"/>
            <c:spPr>
              <a:solidFill>
                <a:srgbClr val="8C1D40"/>
              </a:solidFill>
              <a:effectLst/>
            </c:spPr>
          </c:dPt>
          <c:dPt>
            <c:idx val="4"/>
            <c:bubble3D val="0"/>
            <c:spPr>
              <a:solidFill>
                <a:srgbClr val="9CA3A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Pédagogie</c:v>
                </c:pt>
                <c:pt idx="1">
                  <c:v>Finance</c:v>
                </c:pt>
                <c:pt idx="2">
                  <c:v>Communication</c:v>
                </c:pt>
                <c:pt idx="3">
                  <c:v>Transport</c:v>
                </c:pt>
                <c:pt idx="4">
                  <c:v>Administration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28</c:v>
                </c:pt>
                <c:pt idx="1">
                  <c:v>24</c:v>
                </c:pt>
                <c:pt idx="2">
                  <c:v>18</c:v>
                </c:pt>
                <c:pt idx="3">
                  <c:v>14</c:v>
                </c:pt>
                <c:pt idx="4">
                  <c:v>16</c:v>
                </c:pt>
              </c:numCache>
            </c:numRef>
          </c:val>
        </c:ser>
        <c:firstSliceAng val="0"/>
        <c:holeSize val="55"/>
      </c:doughnutChart>
      <c:spPr>
        <a:solidFill>
          <a:srgbClr val="F5F5F7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B647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5F5F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ln w="15240">
            <a:solidFill>
              <a:srgbClr val="C9A24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548640"/>
            <a:ext cx="3108960" cy="3108960"/>
          </a:xfrm>
          <a:prstGeom prst="ellipse">
            <a:avLst/>
          </a:prstGeom>
          <a:ln w="12700">
            <a:solidFill>
              <a:srgbClr val="C9A24B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85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C A L E U 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Growth Agency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508760"/>
            <a:ext cx="50292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0604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Plateforme de Gestion Scolaire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E4C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plateforme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E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piloter la pédagogie, la finance, la communication et le transport d'une école privée.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892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22960" y="5440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espaces utilisateurs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4892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29000" y="5440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4892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35040" y="5440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intégrée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41080" y="4892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641080" y="5440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unifiée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ScaleUp — Strategy &amp; Growth Agency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CHANGEMENT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l'application transforme, concrètement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tâche autrefois éparpillée devient un geste simple, centralisé et automatique.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745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AE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59398" y="1874520"/>
            <a:ext cx="5179162" cy="502920"/>
          </a:xfrm>
          <a:prstGeom prst="roundRect">
            <a:avLst>
              <a:gd name="adj" fmla="val 14545"/>
            </a:avLst>
          </a:prstGeom>
          <a:solidFill>
            <a:srgbClr val="C9A24B"/>
          </a:solidFill>
          <a:ln/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59398" y="1874520"/>
            <a:ext cx="51791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LA PLATEFORME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10789920" cy="658368"/>
          </a:xfrm>
          <a:prstGeom prst="rect">
            <a:avLst/>
          </a:prstGeom>
          <a:solidFill>
            <a:srgbClr val="F5F5F7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734056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C1D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1D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54203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dispersées entre Excel, papier et cahiers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96558" y="2734056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B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6558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08038" y="2542032"/>
            <a:ext cx="45390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données centralisées et à jour en temps réel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3392424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C1D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392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1D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20040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informés en retard, par téléphone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96558" y="3392424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B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96558" y="3392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08038" y="3200400"/>
            <a:ext cx="45390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et rappels automatiques (WhatsApp)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858768"/>
            <a:ext cx="10789920" cy="658368"/>
          </a:xfrm>
          <a:prstGeom prst="rect">
            <a:avLst/>
          </a:prstGeom>
          <a:solidFill>
            <a:srgbClr val="F5F5F7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4050792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C1D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1D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3858768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Retards de paiement détectés trop tard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96558" y="4050792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B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6558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08038" y="3858768"/>
            <a:ext cx="45390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paiements et relances automatisées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85800" y="470916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C1D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1D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97280" y="451713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visibilité sur les trajets scolaires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96558" y="470916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B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96558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08038" y="4517136"/>
            <a:ext cx="45390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des bus suivie en direct sur une carte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5175504"/>
            <a:ext cx="10789920" cy="658368"/>
          </a:xfrm>
          <a:prstGeom prst="rect">
            <a:avLst/>
          </a:prstGeom>
          <a:solidFill>
            <a:srgbClr val="F5F5F7">
              <a:alpha val="6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" y="5367528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C1D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367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1D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97280" y="5175504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Bulletins et rapports calculés à la main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296558" y="5367528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B4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96558" y="5367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708038" y="5175504"/>
            <a:ext cx="453908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Bulletins, analyses et exports générés en un clic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ScaleUp — Strategy &amp; Growth Agency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application unique pour toute l'école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web développée sur-mesure, accessible depuis n'importe quel navigateur, qui remplace cinq outils par un seul.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6309360" cy="1371600"/>
          </a:xfrm>
          <a:prstGeom prst="roundRect">
            <a:avLst>
              <a:gd name="adj" fmla="val 5333"/>
            </a:avLst>
          </a:prstGeom>
          <a:solidFill>
            <a:srgbClr val="F5F5F7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6060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B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2194560" y="260604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063240" y="26060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663440" y="26060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dispersés
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remplacés par une seule plateforme intégrée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10565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rôles dédiés : direction, enseignants, parents, chauffeurs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72744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727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4672584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intelligent (IA) pour l'analyse financière et pédagogique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29437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294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523951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 automatiques dans le cloud, données toujours en sécurité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0" y="1371600"/>
            <a:ext cx="4297680" cy="4846320"/>
          </a:xfrm>
          <a:prstGeom prst="roundRect">
            <a:avLst>
              <a:gd name="adj" fmla="val 1702"/>
            </a:avLst>
          </a:prstGeom>
          <a:solidFill>
            <a:srgbClr val="F5F5F7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89520" y="1572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Répartition des modules</a:t>
            </a:r>
            <a:endParaRPr lang="en-US" sz="13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7498080" y="1993392"/>
          <a:ext cx="374904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ScaleUp — Strategy &amp; Growth Agency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fonctionne la plateforme, au quotidien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34440" y="3291840"/>
            <a:ext cx="969264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822960" y="2880360"/>
            <a:ext cx="822960" cy="822960"/>
          </a:xfrm>
          <a:prstGeom prst="ellipse">
            <a:avLst/>
          </a:prstGeom>
          <a:solidFill>
            <a:srgbClr val="0B1F3A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880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" y="38679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Inscription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" y="427024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élève créée : profil, photo, documents, classe.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880360"/>
            <a:ext cx="822960" cy="822960"/>
          </a:xfrm>
          <a:prstGeom prst="ellipse">
            <a:avLst/>
          </a:prstGeom>
          <a:solidFill>
            <a:srgbClr val="0B1F3A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2880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51760" y="38679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Suivi pédagogique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427024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devoirs et absences saisis par les enseignants.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0" y="2880360"/>
            <a:ext cx="822960" cy="822960"/>
          </a:xfrm>
          <a:prstGeom prst="ellipse">
            <a:avLst/>
          </a:prstGeom>
          <a:solidFill>
            <a:srgbClr val="0B1F3A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2880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74920" y="38679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427024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informés automatiquement (WhatsApp, notifications).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92440" y="2880360"/>
            <a:ext cx="822960" cy="822960"/>
          </a:xfrm>
          <a:prstGeom prst="ellipse">
            <a:avLst/>
          </a:prstGeom>
          <a:solidFill>
            <a:srgbClr val="0B1F3A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2880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98080" y="38679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Paiements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06640" y="427024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Échéances suivies, reçus et relances générés automatiquement.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515600" y="2880360"/>
            <a:ext cx="822960" cy="822960"/>
          </a:xfrm>
          <a:prstGeom prst="ellipse">
            <a:avLst/>
          </a:prstGeom>
          <a:solidFill>
            <a:srgbClr val="0B1F3A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0" y="2880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921240" y="38679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&amp; rapports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29800" y="427024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Bulletins, statistiques et synthèses IA disponibles à tout moment.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5669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flux continu, du premier jour de classe jusqu'au bulletin de fin de trimestre — sans ressaisie, sans papier perdu.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ScaleUp — Strategy &amp; Growth Agency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UTILISATEUR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espace dédié pour chaque profil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utilisateur se connecte avec son propre compte et ne voit que ce qui le concerne.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491740" cy="4160520"/>
          </a:xfrm>
          <a:prstGeom prst="roundRect">
            <a:avLst>
              <a:gd name="adj" fmla="val 2936"/>
            </a:avLst>
          </a:prstGeom>
          <a:solidFill>
            <a:srgbClr val="F5F5F7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74470" y="224028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7447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22174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 / Admin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566160"/>
            <a:ext cx="20345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Vue globale sur l'école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4187952"/>
            <a:ext cx="20345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Gestion élèves, classes, personnel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4809744"/>
            <a:ext cx="20345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Finance &amp; rapports complets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5431536"/>
            <a:ext cx="20345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Paramétrage de la plateforme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14700" y="1965960"/>
            <a:ext cx="2491740" cy="4160520"/>
          </a:xfrm>
          <a:prstGeom prst="roundRect">
            <a:avLst>
              <a:gd name="adj" fmla="val 2936"/>
            </a:avLst>
          </a:prstGeom>
          <a:solidFill>
            <a:srgbClr val="F5F5F7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40530" y="224028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B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4053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51860" y="3017520"/>
            <a:ext cx="22174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Enseignant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43300" y="3566160"/>
            <a:ext cx="20345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Ses élèves et ses classes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43300" y="4187952"/>
            <a:ext cx="20345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Saisie des notes &amp; devoirs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43300" y="4809744"/>
            <a:ext cx="20345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Moyennes et taux de réussite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43300" y="5431536"/>
            <a:ext cx="20345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Bulletin de paie personnel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0760" y="1965960"/>
            <a:ext cx="2491740" cy="4160520"/>
          </a:xfrm>
          <a:prstGeom prst="roundRect">
            <a:avLst>
              <a:gd name="adj" fmla="val 2936"/>
            </a:avLst>
          </a:prstGeom>
          <a:solidFill>
            <a:srgbClr val="F5F5F7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06590" y="224028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0659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17920" y="3017520"/>
            <a:ext cx="22174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3566160"/>
            <a:ext cx="20345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Suivi de chaque enfant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4187952"/>
            <a:ext cx="20345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Notes, absences, devoirs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4809744"/>
            <a:ext cx="20345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Paiements &amp; reçus en ligne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5431536"/>
            <a:ext cx="20345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Documents administratifs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846820" y="1965960"/>
            <a:ext cx="2491740" cy="4160520"/>
          </a:xfrm>
          <a:prstGeom prst="roundRect">
            <a:avLst>
              <a:gd name="adj" fmla="val 2936"/>
            </a:avLst>
          </a:prstGeom>
          <a:solidFill>
            <a:srgbClr val="F5F5F7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772650" y="224028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C1D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7265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C1D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983980" y="3017520"/>
            <a:ext cx="22174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Chauffeur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075420" y="3566160"/>
            <a:ext cx="20345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Trajet du jour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075420" y="4187952"/>
            <a:ext cx="20345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Position GPS partagée en direct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075420" y="4809744"/>
            <a:ext cx="20345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Départ / fin de trajet en un clic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075420" y="5431536"/>
            <a:ext cx="20345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Historique de ses trajets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ScaleUp — Strategy &amp; Growth Agency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PÉDAGOGIE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suivi scolaire, de A à 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5F5F7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202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✎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76479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Fiches élèves complètes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10312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Profil, photo, documents administratifs, dossier médical, historique.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80760" y="160020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5F5F7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81928" y="19202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8192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0" y="176479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 &amp; bulletins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9440" y="210312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des notes par matière, calcul automatique des moyennes et bulletins.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172968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5F5F7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493008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493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✎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3375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Devoirs en ligne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67588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des devoirs, dépôt de fichiers par les élèves, analyse IA des remises.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0760" y="3172968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5F5F7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81928" y="3493008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81928" y="3493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49440" y="33375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Absences &amp; emploi du temps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367588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présences et planning des classes centralisés.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745736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5F5F7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5065776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5065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17320" y="491032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 résultats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524865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par classe, matière et enseignant, objectifs qualité et plans d'action.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4745736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5F5F7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81928" y="5065776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81928" y="5065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49440" y="491032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bulletins &amp; rapports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49440" y="524865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PDF/Excel en un clic pour chaque élève, classe ou matière.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ScaleUp — Strategy &amp; Growth Agency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914400"/>
            <a:ext cx="4572000" cy="4572000"/>
          </a:xfrm>
          <a:prstGeom prst="ellipse">
            <a:avLst/>
          </a:prstGeom>
          <a:ln w="15240">
            <a:solidFill>
              <a:srgbClr val="C9A24B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4C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DIFFÉRENCIATEUR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assistant intelligent intégré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embarque un moteur d'intelligence artificielle (Gemini) qui analyse les données de l'école et répond aux questions de l'équipe.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6400800" cy="1143000"/>
          </a:xfrm>
          <a:prstGeom prst="roundRect">
            <a:avLst>
              <a:gd name="adj" fmla="val 6400"/>
            </a:avLst>
          </a:prstGeom>
          <a:solidFill>
            <a:srgbClr val="132A4D"/>
          </a:solidFill>
          <a:ln w="9525">
            <a:solidFill>
              <a:srgbClr val="27395F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724912"/>
            <a:ext cx="502920" cy="502920"/>
          </a:xfrm>
          <a:prstGeom prst="ellipse">
            <a:avLst/>
          </a:prstGeom>
          <a:solidFill>
            <a:srgbClr val="0B1F3A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24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63040" y="25786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financière automatique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289864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lit les données de paiements et de charges et produit une synthèse claire pour la direction.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767328"/>
            <a:ext cx="6400800" cy="1143000"/>
          </a:xfrm>
          <a:prstGeom prst="roundRect">
            <a:avLst>
              <a:gd name="adj" fmla="val 6400"/>
            </a:avLst>
          </a:prstGeom>
          <a:solidFill>
            <a:srgbClr val="132A4D"/>
          </a:solidFill>
          <a:ln w="9525">
            <a:solidFill>
              <a:srgbClr val="27395F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0B1F3A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63040" y="38770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Assistant sur le tableau de bord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4197096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 peut poser des questions en langage naturel sur les finances ou les statistiques de l'école.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065776"/>
            <a:ext cx="6400800" cy="1143000"/>
          </a:xfrm>
          <a:prstGeom prst="roundRect">
            <a:avLst>
              <a:gd name="adj" fmla="val 6400"/>
            </a:avLst>
          </a:prstGeom>
          <a:solidFill>
            <a:srgbClr val="132A4D"/>
          </a:solidFill>
          <a:ln w="9525">
            <a:solidFill>
              <a:srgbClr val="27395F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5321808"/>
            <a:ext cx="502920" cy="502920"/>
          </a:xfrm>
          <a:prstGeom prst="ellipse">
            <a:avLst/>
          </a:prstGeom>
          <a:solidFill>
            <a:srgbClr val="0B1F3A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321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63040" y="517550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 devoirs remis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63040" y="5495544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fichiers déposés par les élèves peuvent être analysés automatiquement pour aider l'enseignant.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0" y="1463040"/>
            <a:ext cx="4297680" cy="4709160"/>
          </a:xfrm>
          <a:prstGeom prst="roundRect">
            <a:avLst>
              <a:gd name="adj" fmla="val 1702"/>
            </a:avLst>
          </a:prstGeom>
          <a:solidFill>
            <a:srgbClr val="132A4D"/>
          </a:solidFill>
          <a:ln w="9525">
            <a:solidFill>
              <a:srgbClr val="27395F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89520" y="1691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c'est un vrai plus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89520" y="224028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01000" y="218541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de temps sur l'analyse des chiffres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589520" y="301752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01000" y="296265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pédagogiques basées sur des données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589520" y="379476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01000" y="373989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compétence technique requise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589520" y="457200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01000" y="451713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immédiates, en langage naturel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ScaleUp — Strategy &amp; Growth Agency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Toute la finance de l'école, centralisée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13760" cy="1965960"/>
          </a:xfrm>
          <a:prstGeom prst="roundRect">
            <a:avLst>
              <a:gd name="adj" fmla="val 3721"/>
            </a:avLst>
          </a:prstGeom>
          <a:solidFill>
            <a:srgbClr val="F5F5F7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Paiements élèves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Échéanciers, génération automatique, reçus PDF, relances des impayés.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36720" y="1600200"/>
            <a:ext cx="3413760" cy="1965960"/>
          </a:xfrm>
          <a:prstGeom prst="roundRect">
            <a:avLst>
              <a:gd name="adj" fmla="val 3721"/>
            </a:avLst>
          </a:prstGeom>
          <a:solidFill>
            <a:srgbClr val="F5F5F7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65320" y="18288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53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65320" y="242316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Salaires du personnel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65320" y="2788920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des enseignants et du personnel non-enseignant, fiches de paie.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24800" y="1600200"/>
            <a:ext cx="3413760" cy="1965960"/>
          </a:xfrm>
          <a:prstGeom prst="roundRect">
            <a:avLst>
              <a:gd name="adj" fmla="val 3721"/>
            </a:avLst>
          </a:prstGeom>
          <a:solidFill>
            <a:srgbClr val="F5F5F7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53400" y="18288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34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53400" y="242316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Charges de l'école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53400" y="2788920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dépenses de fonctionnement de l'établissement.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413760" cy="1965960"/>
          </a:xfrm>
          <a:prstGeom prst="roundRect">
            <a:avLst>
              <a:gd name="adj" fmla="val 3721"/>
            </a:avLst>
          </a:prstGeom>
          <a:solidFill>
            <a:srgbClr val="F5F5F7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■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66344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Patrimoine &amp; équipements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5029200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 du matériel et des biens de l'école.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36720" y="3840480"/>
            <a:ext cx="3413760" cy="1965960"/>
          </a:xfrm>
          <a:prstGeom prst="roundRect">
            <a:avLst>
              <a:gd name="adj" fmla="val 3721"/>
            </a:avLst>
          </a:prstGeom>
          <a:solidFill>
            <a:srgbClr val="F5F5F7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65320" y="40690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653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65320" y="466344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Congés du personnel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65320" y="5029200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et suivi des congés en un seul endroit.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24800" y="3840480"/>
            <a:ext cx="3413760" cy="1965960"/>
          </a:xfrm>
          <a:prstGeom prst="roundRect">
            <a:avLst>
              <a:gd name="adj" fmla="val 3721"/>
            </a:avLst>
          </a:prstGeom>
          <a:solidFill>
            <a:srgbClr val="F5F5F7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53400" y="40690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534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53400" y="466344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IA des finances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53400" y="5029200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automatique et réponses aux questions sur la trésorerie.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ScaleUp — Strategy &amp; Growth Agency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TRANSPORT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Rester connecté avec les familles, en temps réel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4572000"/>
          </a:xfrm>
          <a:prstGeom prst="roundRect">
            <a:avLst>
              <a:gd name="adj" fmla="val 1600"/>
            </a:avLst>
          </a:prstGeom>
          <a:solidFill>
            <a:srgbClr val="F5F5F7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automatisée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intégré —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Rappels de paiement envoyés automatiquement aux parents en retard.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317296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en masse —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de messages ou fichiers (circulaires, bulletins) à plusieurs parents à la fois.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3831336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interne —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Échanges directs entre direction, enseignants et parents.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4489704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—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en temps réel pour ne rien manquer d'important.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600200"/>
            <a:ext cx="5440680" cy="4572000"/>
          </a:xfrm>
          <a:prstGeom prst="roundRect">
            <a:avLst>
              <a:gd name="adj" fmla="val 1600"/>
            </a:avLst>
          </a:prstGeom>
          <a:solidFill>
            <a:srgbClr val="F5F5F7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46520" y="18745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040880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 scolaire en direct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2514600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GPS en temps réel —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L'administration suit chaque chauffeur sur une carte, en direct.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0" y="3172968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 / fin de trajet —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chauffeur démarre et termine son trajet en un clic depuis son espace.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92240" y="3831336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des trajets —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trajets passés sont conservés et consultables.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92240" y="4489704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Affectation des élèves —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élève est assigné à un chauffeur et un circuit.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ScaleUp — Strategy &amp; Growth Agency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FIABILITÉ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données de l'école, toujours protégées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13760" cy="1965960"/>
          </a:xfrm>
          <a:prstGeom prst="roundRect">
            <a:avLst>
              <a:gd name="adj" fmla="val 3721"/>
            </a:avLst>
          </a:prstGeom>
          <a:solidFill>
            <a:srgbClr val="F5F5F7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B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⟳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Sauvegardes automatiques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continue dans le cloud (Cloudflare) toutes les quelques minutes, sans action manuelle.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36720" y="1600200"/>
            <a:ext cx="3413760" cy="1965960"/>
          </a:xfrm>
          <a:prstGeom prst="roundRect">
            <a:avLst>
              <a:gd name="adj" fmla="val 3721"/>
            </a:avLst>
          </a:prstGeom>
          <a:solidFill>
            <a:srgbClr val="F5F5F7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65320" y="18288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B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53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↺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65320" y="242316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Restauration automatique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65320" y="2788920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panne ou de redéploiement, les données sont restaurées automatiquement.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24800" y="1600200"/>
            <a:ext cx="3413760" cy="1965960"/>
          </a:xfrm>
          <a:prstGeom prst="roundRect">
            <a:avLst>
              <a:gd name="adj" fmla="val 3721"/>
            </a:avLst>
          </a:prstGeom>
          <a:solidFill>
            <a:srgbClr val="F5F5F7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53400" y="18288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B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34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53400" y="242316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Sessions sécurisées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53400" y="2788920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Connexions protégées et mots de passe jamais stockés en clair.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413760" cy="1965960"/>
          </a:xfrm>
          <a:prstGeom prst="roundRect">
            <a:avLst>
              <a:gd name="adj" fmla="val 3721"/>
            </a:avLst>
          </a:prstGeom>
          <a:solidFill>
            <a:srgbClr val="F5F5F7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B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66344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Accès par licence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5029200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à la plateforme protégé et administrable par l'agence.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36720" y="3840480"/>
            <a:ext cx="3413760" cy="1965960"/>
          </a:xfrm>
          <a:prstGeom prst="roundRect">
            <a:avLst>
              <a:gd name="adj" fmla="val 3721"/>
            </a:avLst>
          </a:prstGeom>
          <a:solidFill>
            <a:srgbClr val="F5F5F7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65320" y="40690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B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653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465320" y="466344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multi-format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65320" y="5029200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rapports exportables en PDF, Excel ou CSV à la demande.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24800" y="3840480"/>
            <a:ext cx="3413760" cy="1965960"/>
          </a:xfrm>
          <a:prstGeom prst="roundRect">
            <a:avLst>
              <a:gd name="adj" fmla="val 3721"/>
            </a:avLst>
          </a:prstGeom>
          <a:solidFill>
            <a:srgbClr val="F5F5F7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53400" y="40690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6B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534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✎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153400" y="466344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Multilingue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53400" y="5029200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disponible en plusieurs langues pour toute l'équipe.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ScaleUp — Strategy &amp; Growth Agency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cette application change tout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13760" cy="1965960"/>
          </a:xfrm>
          <a:prstGeom prst="roundRect">
            <a:avLst>
              <a:gd name="adj" fmla="val 3721"/>
            </a:avLst>
          </a:prstGeom>
          <a:solidFill>
            <a:srgbClr val="F5F5F7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0B1F3A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Tout-en-un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outil remplace le papier, l'Excel, les appels et les fichiers dispersés.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36720" y="1600200"/>
            <a:ext cx="3413760" cy="1965960"/>
          </a:xfrm>
          <a:prstGeom prst="roundRect">
            <a:avLst>
              <a:gd name="adj" fmla="val 3721"/>
            </a:avLst>
          </a:prstGeom>
          <a:solidFill>
            <a:srgbClr val="F5F5F7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65320" y="1828800"/>
            <a:ext cx="457200" cy="457200"/>
          </a:xfrm>
          <a:prstGeom prst="ellipse">
            <a:avLst/>
          </a:prstGeom>
          <a:solidFill>
            <a:srgbClr val="0B1F3A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53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65320" y="242316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intégrée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65320" y="2788920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financières et pédagogiques automatiques, sans effort supplémentaire.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24800" y="1600200"/>
            <a:ext cx="3413760" cy="1965960"/>
          </a:xfrm>
          <a:prstGeom prst="roundRect">
            <a:avLst>
              <a:gd name="adj" fmla="val 3721"/>
            </a:avLst>
          </a:prstGeom>
          <a:solidFill>
            <a:srgbClr val="F5F5F7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53400" y="1828800"/>
            <a:ext cx="457200" cy="457200"/>
          </a:xfrm>
          <a:prstGeom prst="ellipse">
            <a:avLst/>
          </a:prstGeom>
          <a:solidFill>
            <a:srgbClr val="0B1F3A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34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53400" y="242316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automatisée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53400" y="2788920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Rappels et messages WhatsApp envoyés sans intervention manuelle.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413760" cy="1965960"/>
          </a:xfrm>
          <a:prstGeom prst="roundRect">
            <a:avLst>
              <a:gd name="adj" fmla="val 3721"/>
            </a:avLst>
          </a:prstGeom>
          <a:solidFill>
            <a:srgbClr val="F5F5F7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rgbClr val="0B1F3A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66344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 en temps réel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5029200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GPS des bus scolaires, une fonctionnalité rare sur ce marché.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36720" y="3840480"/>
            <a:ext cx="3413760" cy="1965960"/>
          </a:xfrm>
          <a:prstGeom prst="roundRect">
            <a:avLst>
              <a:gd name="adj" fmla="val 3721"/>
            </a:avLst>
          </a:prstGeom>
          <a:solidFill>
            <a:srgbClr val="F5F5F7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65320" y="4069080"/>
            <a:ext cx="457200" cy="457200"/>
          </a:xfrm>
          <a:prstGeom prst="ellipse">
            <a:avLst/>
          </a:prstGeom>
          <a:solidFill>
            <a:srgbClr val="0B1F3A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653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465320" y="466344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en sécurité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65320" y="5029200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 cloud automatiques et restauration en cas d'incident.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24800" y="3840480"/>
            <a:ext cx="3413760" cy="1965960"/>
          </a:xfrm>
          <a:prstGeom prst="roundRect">
            <a:avLst>
              <a:gd name="adj" fmla="val 3721"/>
            </a:avLst>
          </a:prstGeom>
          <a:solidFill>
            <a:srgbClr val="F5F5F7"/>
          </a:solidFill>
          <a:ln w="9525">
            <a:solidFill>
              <a:srgbClr val="E7E6E2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53400" y="4069080"/>
            <a:ext cx="457200" cy="457200"/>
          </a:xfrm>
          <a:prstGeom prst="ellipse">
            <a:avLst/>
          </a:prstGeom>
          <a:solidFill>
            <a:srgbClr val="0B1F3A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534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153400" y="466344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espace par profil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53400" y="5029200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Direction, enseignants, parents et chauffeurs : chacun voit ce qui le concerne.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ScaleUp — Strategy &amp; Growth Agency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3017520"/>
            <a:ext cx="4572000" cy="4572000"/>
          </a:xfrm>
          <a:prstGeom prst="ellipse">
            <a:avLst/>
          </a:prstGeom>
          <a:ln w="15240">
            <a:solidFill>
              <a:srgbClr val="C9A24B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828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C A L E U 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Prêt à digitaliser la gestion de votre école 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Demandez une démonstration personnalisée de la plateforme.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TÉLÉPHONE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+212 6 40 37 90 92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scaleupadministration@gmail.com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577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Fès, Maroc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ScaleUp — Strategy &amp; Growth Agency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2026-08-09T15:20:28Z</dcterms:created>
  <dcterms:modified xsi:type="dcterms:W3CDTF">2026-08-09T15:20:28Z</dcterms:modified>
</cp:coreProperties>
</file>